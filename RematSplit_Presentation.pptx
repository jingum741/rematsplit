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Split LoRA (store)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 GB</c:v>
                  </c:pt>
                  <c:pt idx="1">
                    <c:v>8 GB</c:v>
                  </c:pt>
                  <c:pt idx="2">
                    <c:v>12 GB</c:v>
                  </c:pt>
                  <c:pt idx="3">
                    <c:v>16 GB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1.024</c:v>
                </c:pt>
                <c:pt idx="2">
                  <c:v>3.072</c:v>
                </c:pt>
                <c:pt idx="3">
                  <c:v>4.096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Checkpoint all</c:v>
                </c:pt>
              </c:strCache>
            </c:strRef>
          </c:tx>
          <c:spPr>
            <a:solidFill>
              <a:srgbClr val="0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 GB</c:v>
                  </c:pt>
                  <c:pt idx="1">
                    <c:v>8 GB</c:v>
                  </c:pt>
                  <c:pt idx="2">
                    <c:v>12 GB</c:v>
                  </c:pt>
                  <c:pt idx="3">
                    <c:v>16 GB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4.096</c:v>
                </c:pt>
                <c:pt idx="1">
                  <c:v>8.192</c:v>
                </c:pt>
                <c:pt idx="2">
                  <c:v>16.384</c:v>
                </c:pt>
                <c:pt idx="3">
                  <c:v>24.576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RematSplit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 GB</c:v>
                  </c:pt>
                  <c:pt idx="1">
                    <c:v>8 GB</c:v>
                  </c:pt>
                  <c:pt idx="2">
                    <c:v>12 GB</c:v>
                  </c:pt>
                  <c:pt idx="3">
                    <c:v>16 GB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6.144</c:v>
                </c:pt>
                <c:pt idx="1">
                  <c:v>12.288</c:v>
                </c:pt>
                <c:pt idx="2">
                  <c:v>24.576</c:v>
                </c:pt>
                <c:pt idx="3">
                  <c:v>32.768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Max length (k tokens)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Calibri"/>
              </a:rPr>
              <a:t>Smartphone energy saving vs checkpointing, L = 4096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 vs checkpoint (%)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K=2</c:v>
                  </c:pt>
                  <c:pt idx="1">
                    <c:v>K=4</c:v>
                  </c:pt>
                  <c:pt idx="2">
                    <c:v>K=6</c:v>
                  </c:pt>
                  <c:pt idx="3">
                    <c:v>K=8</c:v>
                  </c:pt>
                  <c:pt idx="4">
                    <c:v>K=10</c:v>
                  </c:pt>
                  <c:pt idx="5">
                    <c:v>K=12</c:v>
                  </c:pt>
                  <c:pt idx="6">
                    <c:v>K=16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22.2</c:v>
                </c:pt>
                <c:pt idx="1">
                  <c:v>25.4</c:v>
                </c:pt>
                <c:pt idx="2">
                  <c:v>26.8</c:v>
                </c:pt>
                <c:pt idx="3">
                  <c:v>21.1</c:v>
                </c:pt>
                <c:pt idx="4">
                  <c:v>14.2</c:v>
                </c:pt>
                <c:pt idx="5">
                  <c:v>9.4</c:v>
                </c:pt>
                <c:pt idx="6">
                  <c:v>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RematSplit: per sublayer activation management for split LoRA fine tuning on memory constrained mobile devices, evaluated with Mistral 7B, LongAlpaca 12k and real 5G traces.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split fine tuning the device keeps its layers' activations until the gradient returns. At L = 2048 the eight device layers of Mistral 7B already hold 4.67 GB of activations; this grows linearly with context and exceeds phone memory long before weights do. Recompute costs device compute and energy; transmitting costs link time. The right choice differs per sublayer and per link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challenge maps to one component: C1 and C2 to the prefix sufficient planner, C3 to the online Hedge selector, C4 to the biased gradient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device runs the first K = 8 of 32 Mistral layers with LoRA adapters; the server runs the rest and the loss. The cellular link carries smashed data, gradients, and optionally activations sent to a server side store and fetched back during backward.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from the gradient fidelity table. Recompute cuts device activation memory from 4.78 GB to 0.26 GB; transmit moves it all to the link; 8 bit halves both sides at a small gradient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DP is optimal for the discretized problem; bins are rounded conservatively so every returned plan is feasible on the device. At G = 400 the energy gap is at most 3.1 percent and planner time is 1.3 to 2.6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profiling produces per unit memory and time; the planner builds a candidate plan set across link rates; the online selector picks a plan each step; the runtime enforces it with saved tensor hooks and non reentrant checkpointing.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results are adversarial or worst case; empirically the Hedge gap is 0.53 percent and RematSplit perplexity stays within 0.5 percent of both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of one step. Transmitted activations go to the server store during forward and are prefetched when the gradient returns; recompute runs in backward only for units assigned 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fine tuning ran on an A100; device energy and latency are emulated from measured unit profiles and replayed 5G traces. Sequence lengths range from 1024 to 32,768.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RematSplit matches offload all on length but at far lower energy. Removing transmit drops it to the checkpointing frontier, showing the gain comes from moving activations to the server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validates C1: the planner's feasibility check is trustworthy on real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Savings peak at K = 6 (26.8 percent) and shrink as K grows to 16 (4.2 percent).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RematSplit lowers device backward time by 21 percent relative to checkpoint all while reaching matched perplexity.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Smartphone at L = 12,288. Cumulative regret flattens after a few hundred steps and ends 37 times below the bound; static and EWMA plans are within 0.0001 percent of the oracle on this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transmit, length falls to the checkpointing frontier. Without 8 bit, length is unchanged but smartphone energy at 12,288 tokens rises from 3.79 to 5.01 kJ. From G = 400 the gap is at most 3.1 percent and it vanishes from G = 1600.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results and the open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9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TRANSACTIONS ON MOBILE COMPUTING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RematSplit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Recompute or Transmit Activation Management for Memory Constrained Split Fine Tuning of LLMs on Mobile Devices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1.46×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longer sequences than checkpointing     </a:t>
            </a:r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31.8%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lower energy     </a:t>
            </a:r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memory prediction error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Activations cap the trainable context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pic>
        <p:nvPicPr>
          <p:cNvPr id="6" name="Image 0" descr="/home/claude/paper/figures/fig_motiv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178" y="1097280"/>
            <a:ext cx="720364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challenges in activation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417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 Exact peak memory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647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is set by forward, window and backward phases jointly; a sum of sizes is not enough to guarantee the budget.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3977640" cy="1417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71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  Combinatorial choice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7647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policies per sublayer over 2K units; the minimum energy plan is NP hard.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77640" cy="1417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71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  Time varying link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downlink fluctuates; the best plan at one rate is poor at another.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2834640"/>
            <a:ext cx="3977640" cy="1417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971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  Convergence with 8 bit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33649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activations bias the gradient; the effect on training must be bounded.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model: device, 5G link and edge server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pic>
        <p:nvPicPr>
          <p:cNvPr id="6" name="Image 0" descr="/home/claude/paper/figures/fig_system_mod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178" y="1097280"/>
            <a:ext cx="720364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policies per activation unit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56616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attention and feed forward sublayer is one activation unit.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Policies: store S, 8 bit store Q, recompute R, transmit T, 8 bit transmit TQ.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policy has measured resident memory, window memory, time and link bytes.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and T are nearly exact; Q and TQ keep cosine above 0.9996.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234440"/>
          <a:ext cx="43891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960120"/>
                <a:gridCol w="96012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Grad.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4777.1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 store 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1673.9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 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4777.1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 transmit TQ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1673.9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297680" y="3657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policies on Mistral 7B at L = 2048 (relative gradient error vs. store).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Prefix sufficient optimal planner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65176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 hardness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energy plan under the forward, window and backward peak constraints reduces from multiple choice knapsack.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265176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Prefix sufficiency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719072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each policy depends on the past only through prefix resident memory, giving a DP over G = 400 memory bins that never violates the budget.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265176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forms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719072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dominance thresholds on downlink rate (T vs R, TQ vs T) and a closed form maximum trainable length.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RematSplit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pic>
        <p:nvPicPr>
          <p:cNvPr id="6" name="Image 0" descr="/home/claude/paper/figures/fig_framewo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178" y="1097280"/>
            <a:ext cx="720364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selection and convergence guarantees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77640" cy="24688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Hedge plan selection (C3)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weights over candidate plans driven by observed step energy.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against the best fixed plan grows as O(√Γ) on any link sequence, so average regret vanishes.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24688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25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Biased gradient analysis (C4)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719072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 policies add a bounded per unit gradient bias.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rate O(1/√Γ) and a linear rate under gradient domination, each with a floor proportional to the squared bias.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Runtime: overlapping recompute and transfer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pic>
        <p:nvPicPr>
          <p:cNvPr id="6" name="Image 0" descr="/home/claude/paper/figures/fig_runti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178" y="1097280"/>
            <a:ext cx="720364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11887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7B, 32 layers, split K = 8, LoRA rank 16, bfloat16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184708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LongAlpaca 12k, 300 steps, AdamW 2e-4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250545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5G traces: 43,208 records, median 12.07 Mbps, RTT 75 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16382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316382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Orin and smartphone profiles, budgets 6 to 16 GB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382219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LoRA (store), checkpoint all, offload all, greedy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Longest trainable sequence at equal memory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5577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280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1.46×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30936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than full checkpointing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9360" y="2514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9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9.3×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30936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than split LoRA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is infeasible at 6 GB.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memory model matches measurement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pic>
        <p:nvPicPr>
          <p:cNvPr id="6" name="Image 0" descr="/home/claude/paper/figures/r3_mem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347472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1280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3.1%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965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between predicted and measured peak memory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2606040"/>
            <a:ext cx="39319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Forward, window and backward phases modeled jointly.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never exceeded by any returned plan.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memory 45.3% below store at L = 2048.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savings across split points and lengths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49377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280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31.8%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0" y="1965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saving vs checkpointing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2514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9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to 96%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66928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vs offload all beyond the checkpoint limit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12,288 tokens: 3.79 kJ vs 7.14 kJ (offload all).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 tuning quality is preserved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005840"/>
                <a:gridCol w="11430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LoRA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RematSplit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 after 300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training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activation memory (GB)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backward time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7B, LongAlpaca 12k, L = 2048; perplexity before fine tuning 4.344.</a:t>
            </a:r>
            <a:endParaRPr lang="en-US" sz="1200" dirty="0"/>
          </a:p>
        </p:txBody>
      </p:sp>
      <p:pic>
        <p:nvPicPr>
          <p:cNvPr id="8" name="Image 0" descr="/home/claude/paper/figures/r11_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051560"/>
            <a:ext cx="3108960" cy="33429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Adapting to the 5G link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pic>
        <p:nvPicPr>
          <p:cNvPr id="6" name="Image 0" descr="/home/claude/paper/figures/r12_trace_c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418" y="1051560"/>
            <a:ext cx="2735885" cy="3108960"/>
          </a:xfrm>
          <a:prstGeom prst="rect">
            <a:avLst/>
          </a:prstGeom>
        </p:spPr>
      </p:pic>
      <p:pic>
        <p:nvPicPr>
          <p:cNvPr id="7" name="Image 1" descr="/home/claude/paper/figures/r13_on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051560"/>
            <a:ext cx="2743200" cy="30145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0" y="1280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0.53%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21792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gap to per step oracle over 2000 steps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217920" y="2560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regret 224 kJ, far below the 8367 kJ bound.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and planner granularity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pic>
        <p:nvPicPr>
          <p:cNvPr id="6" name="Image 0" descr="/home/claude/paper/figures/r10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846320" cy="3188368"/>
          </a:xfrm>
          <a:prstGeom prst="rect">
            <a:avLst/>
          </a:prstGeom>
        </p:spPr>
      </p:pic>
      <p:pic>
        <p:nvPicPr>
          <p:cNvPr id="7" name="Image 1" descr="/home/claude/paper/figures/r14_b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446" y="1051560"/>
            <a:ext cx="3280867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RematSplit  |  IEEE TMC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sublayer choice among store, 8 bit store, recompute and transmit under an exact peak memory model.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sufficient DP never violates the budget; Hedge gives O(√Γ) regret; 8 bit bias bounded in convergence.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1.46× longer sequences than checkpointing, 9.3× than split LoRA, up to 31.8% less energy.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108960" cy="219456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0" y="1719072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policies on physical devices, extend the planner to multiple devices sharing one cell, and optimize the split layer jointly with the plan.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matSplit">
  <a:themeElements>
    <a:clrScheme name="RematSplit">
      <a:dk1>
        <a:srgbClr val="1E293B"/>
      </a:dk1>
      <a:lt1>
        <a:srgbClr val="FFFFFF"/>
      </a:lt1>
      <a:dk2>
        <a:srgbClr val="0F2A44"/>
      </a:dk2>
      <a:lt2>
        <a:srgbClr val="F3F6F9"/>
      </a:lt2>
      <a:accent1>
        <a:srgbClr val="0E8C8C"/>
      </a:accent1>
      <a:accent2>
        <a:srgbClr val="E39B26"/>
      </a:accent2>
      <a:accent3>
        <a:srgbClr val="0F2A44"/>
      </a:accent3>
      <a:accent4>
        <a:srgbClr val="94A3B8"/>
      </a:accent4>
      <a:accent5>
        <a:srgbClr val="C2410C"/>
      </a:accent5>
      <a:accent6>
        <a:srgbClr val="64748B"/>
      </a:accent6>
      <a:hlink>
        <a:srgbClr val="0E8C8C"/>
      </a:hlink>
      <a:folHlink>
        <a:srgbClr val="64748B"/>
      </a:folHlink>
    </a:clrScheme>
    <a:fontScheme name="RematSpli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RematSplit</dc:title>
  <dc:subject>PptxGenJS Presentation</dc:subject>
  <dc:creator>PptxGenJS</dc:creator>
  <cp:lastModifiedBy>PptxGenJS</cp:lastModifiedBy>
  <cp:revision>1</cp:revision>
  <dcterms:created xsi:type="dcterms:W3CDTF">2026-10-27T20:14:15Z</dcterms:created>
  <dcterms:modified xsi:type="dcterms:W3CDTF">2026-10-27T20:14:15Z</dcterms:modified>
</cp:coreProperties>
</file>